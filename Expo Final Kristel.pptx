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68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26"/>
          </a:solidFill>
          <a:ln w="12700">
            <a:solidFill>
              <a:srgbClr val="101426"/>
            </a:solidFill>
            <a:prstDash val="solid"/>
          </a:ln>
        </p:spPr>
      </p:sp>
      <p:pic>
        <p:nvPicPr>
          <p:cNvPr id="3" name="Image 0" descr="/mnt/data/HeroDerech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6217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DermaNube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58368" y="20574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4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Infraestructura como Código y CI/CD</a:t>
            </a:r>
            <a:endParaRPr lang="en-US" sz="4100" dirty="0"/>
          </a:p>
        </p:txBody>
      </p:sp>
      <p:sp>
        <p:nvSpPr>
          <p:cNvPr id="6" name="Text 3"/>
          <p:cNvSpPr/>
          <p:nvPr/>
        </p:nvSpPr>
        <p:spPr>
          <a:xfrm>
            <a:off x="676656" y="3090672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CE6F3"/>
                </a:solidFill>
              </a:rPr>
              <a:t>Plataforma web dermatológica con microservicios, automatización, observabilidad y arquitectura AWS preparada.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94944" y="4069080"/>
            <a:ext cx="173736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7DD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3816" y="4151376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6A5FF"/>
                </a:solidFill>
              </a:rPr>
              <a:t>5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13816" y="4507992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101426"/>
                </a:solidFill>
              </a:rPr>
              <a:t>pruebas automatizadas aprobadas</a:t>
            </a:r>
            <a:endParaRPr lang="en-US" sz="730" dirty="0"/>
          </a:p>
        </p:txBody>
      </p:sp>
      <p:sp>
        <p:nvSpPr>
          <p:cNvPr id="10" name="Shape 7"/>
          <p:cNvSpPr/>
          <p:nvPr/>
        </p:nvSpPr>
        <p:spPr>
          <a:xfrm>
            <a:off x="2596896" y="4069080"/>
            <a:ext cx="192024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7DD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15768" y="4151376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6A5FF"/>
                </a:solidFill>
              </a:rPr>
              <a:t>12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2715768" y="450799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101426"/>
                </a:solidFill>
              </a:rPr>
              <a:t>servicios definidos en Docker Compose</a:t>
            </a:r>
            <a:endParaRPr lang="en-US" sz="730" dirty="0"/>
          </a:p>
        </p:txBody>
      </p:sp>
      <p:sp>
        <p:nvSpPr>
          <p:cNvPr id="13" name="Shape 10"/>
          <p:cNvSpPr/>
          <p:nvPr/>
        </p:nvSpPr>
        <p:spPr>
          <a:xfrm>
            <a:off x="4663440" y="4069080"/>
            <a:ext cx="141732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7DD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82312" y="4151376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45A36C"/>
                </a:solidFill>
              </a:rPr>
              <a:t>OK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4782312" y="4507992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101426"/>
                </a:solidFill>
              </a:rPr>
              <a:t>pipeline local validado</a:t>
            </a:r>
            <a:endParaRPr lang="en-US" sz="730" dirty="0"/>
          </a:p>
        </p:txBody>
      </p:sp>
      <p:sp>
        <p:nvSpPr>
          <p:cNvPr id="16" name="Text 13"/>
          <p:cNvSpPr/>
          <p:nvPr/>
        </p:nvSpPr>
        <p:spPr>
          <a:xfrm>
            <a:off x="676656" y="626364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7CE"/>
                </a:solidFill>
              </a:rPr>
              <a:t>Presentación técnica - versión local validada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D5E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 de exposición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12064" y="960120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480"/>
                </a:solidFill>
              </a:rPr>
              <a:t>Estructura tomada del ejemplo: problema, solución, herramientas, funcionamiento y evidencias.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3232" y="1417320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3677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5EA6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81912" y="15819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1426"/>
                </a:solidFill>
              </a:rPr>
              <a:t>Problema y objetivo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91056" y="188366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E7480"/>
                </a:solidFill>
              </a:rPr>
              <a:t>Qué necesidad resuelve la plataforma.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245352" y="1417320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63677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5EA6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14032" y="15819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1426"/>
                </a:solidFill>
              </a:rPr>
              <a:t>Arquitectura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23176" y="188366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E7480"/>
                </a:solidFill>
              </a:rPr>
              <a:t>Diseño AWS preparado y entorno local validado.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713232" y="2715768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93522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5EA6"/>
                </a:solidFill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81912" y="28803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1426"/>
                </a:solidFill>
              </a:rPr>
              <a:t>IaC y automatización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91056" y="31821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E7480"/>
                </a:solidFill>
              </a:rPr>
              <a:t>Terraform, Ansible, Docker, GitHub Actions y Jenkins.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245352" y="2715768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93522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5EA6"/>
                </a:solidFill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14032" y="28803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1426"/>
                </a:solidFill>
              </a:rPr>
              <a:t>Calidad y pruebas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23176" y="31821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E7480"/>
                </a:solidFill>
              </a:rPr>
              <a:t>Node test, SonarQube y pipeline local.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713232" y="4014216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2336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5EA6"/>
                </a:solidFill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81912" y="41788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1426"/>
                </a:solidFill>
              </a:rPr>
              <a:t>Observabilidad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591056" y="44805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E7480"/>
                </a:solidFill>
              </a:rPr>
              <a:t>Prometheus, Grafana, Loki y Alloy.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245352" y="4014216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42336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5EA6"/>
                </a:solidFill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14032" y="41788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1426"/>
                </a:solidFill>
              </a:rPr>
              <a:t>Alcance honesto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123176" y="44805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E7480"/>
                </a:solidFill>
              </a:rPr>
              <a:t>Qué quedó ejecutado y qué quedó preparado.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41148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090A4"/>
                </a:solidFill>
              </a:rPr>
              <a:t>DermaNube - Infraestructura como Código y CI/CD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1475720" y="64556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090A4"/>
                </a:solidFill>
              </a:rPr>
              <a:t>01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11480" y="6437376"/>
            <a:ext cx="11384280" cy="0"/>
          </a:xfrm>
          <a:prstGeom prst="line">
            <a:avLst/>
          </a:prstGeom>
          <a:noFill/>
          <a:ln w="6350">
            <a:solidFill>
              <a:srgbClr val="D9DEE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0574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5EA6"/>
                </a:solidFill>
              </a:rPr>
              <a:t>1.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874520" y="190195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0D5E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Planteamiento del problema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892808" y="285292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E7480"/>
                </a:solidFill>
              </a:rPr>
              <a:t>El reto no fue solo hacer una web: fue dejar un entorno automatizado y demostrable.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355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13D"/>
                </a:solidFill>
              </a:rPr>
              <a:t>DermaNube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D5E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identificado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12064" y="960120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480"/>
                </a:solidFill>
              </a:rPr>
              <a:t>Una plataforma de citas necesita despliegue repetible, control de calidad y monitoreo.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153912" y="1307592"/>
            <a:ext cx="5111496" cy="4014216"/>
          </a:xfrm>
          <a:prstGeom prst="rect">
            <a:avLst/>
          </a:prstGeom>
          <a:solidFill>
            <a:srgbClr val="FFFFFF"/>
          </a:solidFill>
          <a:ln w="10160">
            <a:solidFill>
              <a:srgbClr val="CDD4DF"/>
            </a:solidFill>
            <a:prstDash val="solid"/>
          </a:ln>
        </p:spPr>
      </p:sp>
      <p:pic>
        <p:nvPicPr>
          <p:cNvPr id="6" name="Image 0" descr="/mnt/data/web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029704"/>
            <a:ext cx="5074920" cy="25699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23444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1234440"/>
            <a:ext cx="64008" cy="914400"/>
          </a:xfrm>
          <a:prstGeom prst="rect">
            <a:avLst/>
          </a:prstGeom>
          <a:solidFill>
            <a:srgbClr val="C94D4D"/>
          </a:solidFill>
          <a:ln w="12700">
            <a:solidFill>
              <a:srgbClr val="C94D4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" y="13533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426"/>
                </a:solidFill>
              </a:rPr>
              <a:t>Riesgo operativo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50392" y="167335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Sin automatización, cada cambio depende de pasos manuales: instalación, configuración, pruebas y reinicio de servicios.</a:t>
            </a:r>
            <a:endParaRPr lang="en-US" sz="960" dirty="0"/>
          </a:p>
        </p:txBody>
      </p:sp>
      <p:sp>
        <p:nvSpPr>
          <p:cNvPr id="11" name="Shape 8"/>
          <p:cNvSpPr/>
          <p:nvPr/>
        </p:nvSpPr>
        <p:spPr>
          <a:xfrm>
            <a:off x="685800" y="2377440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" y="2377440"/>
            <a:ext cx="64008" cy="960120"/>
          </a:xfrm>
          <a:prstGeom prst="rect">
            <a:avLst/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0392" y="24963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426"/>
                </a:solidFill>
              </a:rPr>
              <a:t>Complejidad técnica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50392" y="2816352"/>
            <a:ext cx="4389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El sistema incluye frontend, servicios HTTP, cache, pruebas, observabilidad, seguridad y una arquitectura AWS preparada.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685800" y="3584448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3584448"/>
            <a:ext cx="64008" cy="960120"/>
          </a:xfrm>
          <a:prstGeom prst="rect">
            <a:avLst/>
          </a:prstGeom>
          <a:solidFill>
            <a:srgbClr val="45A36C"/>
          </a:solidFill>
          <a:ln w="12700">
            <a:solidFill>
              <a:srgbClr val="45A36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0392" y="370332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426"/>
                </a:solidFill>
              </a:rPr>
              <a:t>Necesidad de evidencia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50392" y="4023360"/>
            <a:ext cx="4389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El trabajo debía ser demostrable sin depender solo de promesas: web funcionando, contenedores saludables, CI/CD y métricas.</a:t>
            </a:r>
            <a:endParaRPr lang="en-US" sz="960" dirty="0"/>
          </a:p>
        </p:txBody>
      </p:sp>
      <p:sp>
        <p:nvSpPr>
          <p:cNvPr id="19" name="Shape 16"/>
          <p:cNvSpPr/>
          <p:nvPr/>
        </p:nvSpPr>
        <p:spPr>
          <a:xfrm>
            <a:off x="685800" y="4983480"/>
            <a:ext cx="164592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7DD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4672" y="5065776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750F2"/>
                </a:solidFill>
              </a:rPr>
              <a:t>8085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804672" y="5422392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101426"/>
                </a:solidFill>
              </a:rPr>
              <a:t>frontend local validado</a:t>
            </a:r>
            <a:endParaRPr lang="en-US" sz="730" dirty="0"/>
          </a:p>
        </p:txBody>
      </p:sp>
      <p:sp>
        <p:nvSpPr>
          <p:cNvPr id="22" name="Shape 19"/>
          <p:cNvSpPr/>
          <p:nvPr/>
        </p:nvSpPr>
        <p:spPr>
          <a:xfrm>
            <a:off x="2606040" y="4983480"/>
            <a:ext cx="169164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7DD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24912" y="5065776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750F2"/>
                </a:solidFill>
              </a:rPr>
              <a:t>3001 / 3002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2724912" y="542239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101426"/>
                </a:solidFill>
              </a:rPr>
              <a:t>microservicios HTTP</a:t>
            </a:r>
            <a:endParaRPr lang="en-US" sz="730" dirty="0"/>
          </a:p>
        </p:txBody>
      </p:sp>
      <p:sp>
        <p:nvSpPr>
          <p:cNvPr id="25" name="Shape 22"/>
          <p:cNvSpPr/>
          <p:nvPr/>
        </p:nvSpPr>
        <p:spPr>
          <a:xfrm>
            <a:off x="4572000" y="4983480"/>
            <a:ext cx="132588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7DD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90872" y="5065776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750F2"/>
                </a:solidFill>
              </a:rPr>
              <a:t>3000 / 9090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4690872" y="5422392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101426"/>
                </a:solidFill>
              </a:rPr>
              <a:t>Grafana y Prometheus</a:t>
            </a:r>
            <a:endParaRPr lang="en-US" sz="730" dirty="0"/>
          </a:p>
        </p:txBody>
      </p:sp>
      <p:sp>
        <p:nvSpPr>
          <p:cNvPr id="28" name="Text 25"/>
          <p:cNvSpPr/>
          <p:nvPr/>
        </p:nvSpPr>
        <p:spPr>
          <a:xfrm>
            <a:off x="41148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090A4"/>
                </a:solidFill>
              </a:rPr>
              <a:t>DermaNube - Infraestructura como Código y CI/CD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>
            <a:off x="11475720" y="64556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090A4"/>
                </a:solidFill>
              </a:rPr>
              <a:t>03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411480" y="6437376"/>
            <a:ext cx="11384280" cy="0"/>
          </a:xfrm>
          <a:prstGeom prst="line">
            <a:avLst/>
          </a:prstGeom>
          <a:noFill/>
          <a:ln w="6350">
            <a:solidFill>
              <a:srgbClr val="D9DEE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D5E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de la solución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12064" y="960120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480"/>
                </a:solidFill>
              </a:rPr>
              <a:t>Construir una plataforma con aplicación, contenedores, IaC, CI/CD, calidad y observabilidad.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23444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234440"/>
            <a:ext cx="64008" cy="658368"/>
          </a:xfrm>
          <a:prstGeom prst="rect">
            <a:avLst/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35331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426"/>
                </a:solidFill>
              </a:rPr>
              <a:t>Aplicación web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673352"/>
            <a:ext cx="4846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Portal dermatológico responsive con especialistas, tratamientos y reserva de evaluación.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658368" y="2075688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075688"/>
            <a:ext cx="64008" cy="658368"/>
          </a:xfrm>
          <a:prstGeom prst="rect">
            <a:avLst/>
          </a:prstGeom>
          <a:solidFill>
            <a:srgbClr val="45A36C"/>
          </a:solidFill>
          <a:ln w="12700">
            <a:solidFill>
              <a:srgbClr val="45A3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19456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426"/>
                </a:solidFill>
              </a:rPr>
              <a:t>Microservicios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514600"/>
            <a:ext cx="4846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ServicioPersonas, ServicioCitas y TrabajadorDocumentos separados por responsabilidad.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658368" y="2916936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2916936"/>
            <a:ext cx="64008" cy="658368"/>
          </a:xfrm>
          <a:prstGeom prst="rect">
            <a:avLst/>
          </a:prstGeom>
          <a:solidFill>
            <a:srgbClr val="6750F2"/>
          </a:solidFill>
          <a:ln w="12700">
            <a:solidFill>
              <a:srgbClr val="6750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03580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426"/>
                </a:solidFill>
              </a:rPr>
              <a:t>Automatización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3355848"/>
            <a:ext cx="4846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Docker Compose local, GitHub Actions, Jenkins y scripts de despliegue.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658368" y="3758184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3758184"/>
            <a:ext cx="64008" cy="658368"/>
          </a:xfrm>
          <a:prstGeom prst="rect">
            <a:avLst/>
          </a:prstGeom>
          <a:solidFill>
            <a:srgbClr val="E2A27C"/>
          </a:solidFill>
          <a:ln w="12700">
            <a:solidFill>
              <a:srgbClr val="E2A2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87705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426"/>
                </a:solidFill>
              </a:rPr>
              <a:t>IaC preparada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197096"/>
            <a:ext cx="4846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Terraform, Ansible, Kubernetes, Checkov y políticas OPA para nube AWS.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658368" y="4599432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4599432"/>
            <a:ext cx="64008" cy="658368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71830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426"/>
                </a:solidFill>
              </a:rPr>
              <a:t>Evidencia local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5038344"/>
            <a:ext cx="4846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Pipeline Jenkins exitoso, cinco pruebas aprobadas, SonarQube, Grafana y Prometheus.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6400800" y="1444752"/>
            <a:ext cx="448056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1783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1426"/>
                </a:solidFill>
              </a:rPr>
              <a:t>Alcance claro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720840" y="23317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5A36C"/>
                </a:solidFill>
              </a:rPr>
              <a:t>Validado localmente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39128" y="26974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E7480"/>
                </a:solidFill>
              </a:rPr>
              <a:t>Aplicación, microservicios, pruebas, Jenkins, SonarQube, Prometheus, Grafana, Loki y Docker Compose.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720840" y="3703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5EA6"/>
                </a:solidFill>
              </a:rPr>
              <a:t>Preparado para AWS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739128" y="40690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E7480"/>
                </a:solidFill>
              </a:rPr>
              <a:t>Terraform, Ansible, ECR, ECS, EKS, CloudFront, S3, API Gateway, Cognito, DynamoDB, SNS/SQS y más.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1148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090A4"/>
                </a:solidFill>
              </a:rPr>
              <a:t>DermaNube - Infraestructura como Código y CI/CD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11475720" y="64556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090A4"/>
                </a:solidFill>
              </a:rPr>
              <a:t>04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11480" y="6437376"/>
            <a:ext cx="11384280" cy="0"/>
          </a:xfrm>
          <a:prstGeom prst="line">
            <a:avLst/>
          </a:prstGeom>
          <a:noFill/>
          <a:ln w="6350">
            <a:solidFill>
              <a:srgbClr val="D9DEE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0574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5EA6"/>
                </a:solidFill>
              </a:rPr>
              <a:t>2.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874520" y="190195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0D5E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Diagrama de solución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892808" y="285292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E7480"/>
                </a:solidFill>
              </a:rPr>
              <a:t>Se mantuvo la complejidad del diseño original, separando lo preparado de lo ejecutado.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355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13D"/>
                </a:solidFill>
              </a:rPr>
              <a:t>DermaNube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D5E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de referencia AWS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12064" y="960120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480"/>
                </a:solidFill>
              </a:rPr>
              <a:t>Diseño objetivo: capa de presentación, lógica, datos, mensajería, seguridad, observabilidad y CI/CD.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84632" y="1307592"/>
            <a:ext cx="6757416" cy="4837176"/>
          </a:xfrm>
          <a:prstGeom prst="rect">
            <a:avLst/>
          </a:prstGeom>
          <a:solidFill>
            <a:srgbClr val="FFFFFF"/>
          </a:solidFill>
          <a:ln w="10160">
            <a:solidFill>
              <a:srgbClr val="CDD4D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543800" y="1325880"/>
            <a:ext cx="388620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543800" y="1325880"/>
            <a:ext cx="64008" cy="758952"/>
          </a:xfrm>
          <a:prstGeom prst="rect">
            <a:avLst/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08392" y="144475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426"/>
                </a:solidFill>
              </a:rPr>
              <a:t>Presentación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08392" y="1764792"/>
            <a:ext cx="3611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Route 53, WAF, CloudFront y S3 privado para servir la web.</a:t>
            </a:r>
            <a:endParaRPr lang="en-US" sz="960" dirty="0"/>
          </a:p>
        </p:txBody>
      </p:sp>
      <p:sp>
        <p:nvSpPr>
          <p:cNvPr id="11" name="Shape 8"/>
          <p:cNvSpPr/>
          <p:nvPr/>
        </p:nvSpPr>
        <p:spPr>
          <a:xfrm>
            <a:off x="7543800" y="2240280"/>
            <a:ext cx="3886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543800" y="2240280"/>
            <a:ext cx="64008" cy="804672"/>
          </a:xfrm>
          <a:prstGeom prst="rect">
            <a:avLst/>
          </a:prstGeom>
          <a:solidFill>
            <a:srgbClr val="6750F2"/>
          </a:solidFill>
          <a:ln w="12700">
            <a:solidFill>
              <a:srgbClr val="6750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08392" y="235915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426"/>
                </a:solidFill>
              </a:rPr>
              <a:t>Lógica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708392" y="267919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API Gateway, ALB interno, ECS Fargate y Cloud Map para microservicios.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7543800" y="320040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543800" y="3200400"/>
            <a:ext cx="64008" cy="868680"/>
          </a:xfrm>
          <a:prstGeom prst="rect">
            <a:avLst/>
          </a:prstGeom>
          <a:solidFill>
            <a:srgbClr val="E2A27C"/>
          </a:solidFill>
          <a:ln w="12700">
            <a:solidFill>
              <a:srgbClr val="E2A27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08392" y="331927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426"/>
                </a:solidFill>
              </a:rPr>
              <a:t>Datos y eventos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708392" y="3639312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DynamoDB, Redis, OpenSearch, SNS, SQS, Lambda y trabajador EKS.</a:t>
            </a:r>
            <a:endParaRPr lang="en-US" sz="960" dirty="0"/>
          </a:p>
        </p:txBody>
      </p:sp>
      <p:sp>
        <p:nvSpPr>
          <p:cNvPr id="19" name="Shape 16"/>
          <p:cNvSpPr/>
          <p:nvPr/>
        </p:nvSpPr>
        <p:spPr>
          <a:xfrm>
            <a:off x="7543800" y="4224528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543800" y="4224528"/>
            <a:ext cx="64008" cy="868680"/>
          </a:xfrm>
          <a:prstGeom prst="rect">
            <a:avLst/>
          </a:prstGeom>
          <a:solidFill>
            <a:srgbClr val="45A36C"/>
          </a:solidFill>
          <a:ln w="12700">
            <a:solidFill>
              <a:srgbClr val="45A36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08392" y="434340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426"/>
                </a:solidFill>
              </a:rPr>
              <a:t>Operación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708392" y="4663440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Prometheus, Grafana, Loki, CloudTrail, Secrets Manager, Backup y Budgets.</a:t>
            </a:r>
            <a:endParaRPr lang="en-US" sz="960" dirty="0"/>
          </a:p>
        </p:txBody>
      </p:sp>
      <p:sp>
        <p:nvSpPr>
          <p:cNvPr id="23" name="Text 20"/>
          <p:cNvSpPr/>
          <p:nvPr/>
        </p:nvSpPr>
        <p:spPr>
          <a:xfrm>
            <a:off x="7543800" y="5394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C94D4D"/>
                </a:solidFill>
              </a:rPr>
              <a:t>Nota de alcance: esta arquitectura quedó codificada y documentada; no se afirma despliegue productivo en AWS.</a:t>
            </a:r>
            <a:endParaRPr lang="en-US" sz="1030" dirty="0"/>
          </a:p>
        </p:txBody>
      </p:sp>
      <p:sp>
        <p:nvSpPr>
          <p:cNvPr id="24" name="Text 21"/>
          <p:cNvSpPr/>
          <p:nvPr/>
        </p:nvSpPr>
        <p:spPr>
          <a:xfrm>
            <a:off x="41148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090A4"/>
                </a:solidFill>
              </a:rPr>
              <a:t>DermaNube - Infraestructura como Código y CI/CD</a:t>
            </a:r>
            <a:endParaRPr lang="en-US" sz="680" dirty="0"/>
          </a:p>
        </p:txBody>
      </p:sp>
      <p:sp>
        <p:nvSpPr>
          <p:cNvPr id="25" name="Text 22"/>
          <p:cNvSpPr/>
          <p:nvPr/>
        </p:nvSpPr>
        <p:spPr>
          <a:xfrm>
            <a:off x="11475720" y="64556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090A4"/>
                </a:solidFill>
              </a:rPr>
              <a:t>06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411480" y="6437376"/>
            <a:ext cx="11384280" cy="0"/>
          </a:xfrm>
          <a:prstGeom prst="line">
            <a:avLst/>
          </a:prstGeom>
          <a:noFill/>
          <a:ln w="6350">
            <a:solidFill>
              <a:srgbClr val="D9DEE8"/>
            </a:solidFill>
            <a:prstDash val="solid"/>
          </a:ln>
        </p:spPr>
      </p:sp>
      <p:pic>
        <p:nvPicPr>
          <p:cNvPr id="28" name="Imagen 27" descr="Diagrama&#10;&#10;Descripción generada automáticamente">
            <a:extLst>
              <a:ext uri="{FF2B5EF4-FFF2-40B4-BE49-F238E27FC236}">
                <a16:creationId xmlns:a16="http://schemas.microsoft.com/office/drawing/2014/main" id="{8B73D75F-4B6F-AD51-6D4A-2ED598A7C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98448"/>
            <a:ext cx="6958441" cy="39410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088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0D5E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</a:t>
            </a:r>
            <a:r>
              <a:rPr lang="en-US" sz="2700" b="1" dirty="0">
                <a:solidFill>
                  <a:srgbClr val="0D5E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local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12064" y="960120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480"/>
                </a:solidFill>
              </a:rPr>
              <a:t>La demostración ejecutada se basó en Docker Compose con 12 servicios.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011680" y="2057400"/>
            <a:ext cx="731520" cy="0"/>
          </a:xfrm>
          <a:prstGeom prst="line">
            <a:avLst/>
          </a:prstGeom>
          <a:noFill/>
          <a:ln w="15240">
            <a:solidFill>
              <a:srgbClr val="6E7480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389120" y="2057400"/>
            <a:ext cx="731520" cy="0"/>
          </a:xfrm>
          <a:prstGeom prst="line">
            <a:avLst/>
          </a:prstGeom>
          <a:noFill/>
          <a:ln w="15240">
            <a:solidFill>
              <a:srgbClr val="6E7480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389120" y="2057400"/>
            <a:ext cx="731520" cy="640080"/>
          </a:xfrm>
          <a:prstGeom prst="line">
            <a:avLst/>
          </a:prstGeom>
          <a:noFill/>
          <a:ln w="15240">
            <a:solidFill>
              <a:srgbClr val="6E7480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040880" y="2697480"/>
            <a:ext cx="548640" cy="0"/>
          </a:xfrm>
          <a:prstGeom prst="line">
            <a:avLst/>
          </a:prstGeom>
          <a:noFill/>
          <a:ln w="15240">
            <a:solidFill>
              <a:srgbClr val="6E748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080760" y="3063240"/>
            <a:ext cx="0" cy="914400"/>
          </a:xfrm>
          <a:prstGeom prst="line">
            <a:avLst/>
          </a:prstGeom>
          <a:noFill/>
          <a:ln w="15240">
            <a:solidFill>
              <a:srgbClr val="45A36C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080760" y="1965960"/>
            <a:ext cx="0" cy="2011680"/>
          </a:xfrm>
          <a:prstGeom prst="line">
            <a:avLst/>
          </a:prstGeom>
          <a:noFill/>
          <a:ln w="15240">
            <a:solidFill>
              <a:srgbClr val="45A36C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023360" y="4343400"/>
            <a:ext cx="548640" cy="0"/>
          </a:xfrm>
          <a:prstGeom prst="line">
            <a:avLst/>
          </a:prstGeom>
          <a:noFill/>
          <a:ln w="15240">
            <a:solidFill>
              <a:srgbClr val="45A36C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00800" y="4343400"/>
            <a:ext cx="548640" cy="0"/>
          </a:xfrm>
          <a:prstGeom prst="line">
            <a:avLst/>
          </a:prstGeom>
          <a:noFill/>
          <a:ln w="15240">
            <a:solidFill>
              <a:srgbClr val="45A36C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0241280" y="2423160"/>
            <a:ext cx="0" cy="548640"/>
          </a:xfrm>
          <a:prstGeom prst="line">
            <a:avLst/>
          </a:prstGeom>
          <a:noFill/>
          <a:ln w="15240">
            <a:solidFill>
              <a:srgbClr val="E2A27C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418320" y="2057400"/>
            <a:ext cx="0" cy="0"/>
          </a:xfrm>
          <a:prstGeom prst="line">
            <a:avLst/>
          </a:prstGeom>
          <a:noFill/>
          <a:ln w="15240">
            <a:solidFill>
              <a:srgbClr val="E2A27C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418320" y="3337560"/>
            <a:ext cx="0" cy="0"/>
          </a:xfrm>
          <a:prstGeom prst="line">
            <a:avLst/>
          </a:prstGeom>
          <a:noFill/>
          <a:ln w="15240">
            <a:solidFill>
              <a:srgbClr val="E2A27C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0080" y="169164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1421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1810512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213D"/>
                </a:solidFill>
              </a:rPr>
              <a:t>Usuario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49808" y="2121408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6E7480"/>
                </a:solidFill>
              </a:rPr>
              <a:t>Navegador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2743200" y="169164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6750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52928" y="181051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750F2"/>
                </a:solidFill>
              </a:rPr>
              <a:t>Frontend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852928" y="2121408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6E7480"/>
                </a:solidFill>
              </a:rPr>
              <a:t>Nginx 8085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5120640" y="123444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0D5E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0368" y="1353312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5EA6"/>
                </a:solidFill>
              </a:rPr>
              <a:t>ServicioPersonas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230368" y="1664208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6E7480"/>
                </a:solidFill>
              </a:rPr>
              <a:t>Node 3001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5120640" y="233172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0D5E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30368" y="2450592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5EA6"/>
                </a:solidFill>
              </a:rPr>
              <a:t>ServicioCitas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230368" y="2761488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6E7480"/>
                </a:solidFill>
              </a:rPr>
              <a:t>Node 3002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7589520" y="233172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C94D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99248" y="2450592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94D4D"/>
                </a:solidFill>
              </a:rPr>
              <a:t>Redis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699248" y="2761488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6E7480"/>
                </a:solidFill>
              </a:rPr>
              <a:t>Cache local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2194560" y="397764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45A36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04288" y="4096512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5A36C"/>
                </a:solidFill>
              </a:rPr>
              <a:t>Prometheus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2304288" y="4407408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6E7480"/>
                </a:solidFill>
              </a:rPr>
              <a:t>Métricas 9090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4572000" y="397764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45A36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1728" y="4096512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5A36C"/>
                </a:solidFill>
              </a:rPr>
              <a:t>Grafana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681728" y="4407408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6E7480"/>
                </a:solidFill>
              </a:rPr>
              <a:t>Dashboard 3000</a:t>
            </a:r>
            <a:endParaRPr lang="en-US" sz="830" dirty="0"/>
          </a:p>
        </p:txBody>
      </p:sp>
      <p:sp>
        <p:nvSpPr>
          <p:cNvPr id="37" name="Shape 35"/>
          <p:cNvSpPr/>
          <p:nvPr/>
        </p:nvSpPr>
        <p:spPr>
          <a:xfrm>
            <a:off x="6949440" y="397764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45A36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59168" y="4096512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5A36C"/>
                </a:solidFill>
              </a:rPr>
              <a:t>Loki + Alloy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059168" y="4407408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6E7480"/>
                </a:solidFill>
              </a:rPr>
              <a:t>Registros</a:t>
            </a:r>
            <a:endParaRPr lang="en-US" sz="830" dirty="0"/>
          </a:p>
        </p:txBody>
      </p:sp>
      <p:sp>
        <p:nvSpPr>
          <p:cNvPr id="40" name="Shape 38"/>
          <p:cNvSpPr/>
          <p:nvPr/>
        </p:nvSpPr>
        <p:spPr>
          <a:xfrm>
            <a:off x="9418320" y="169164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2A27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528048" y="181051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2A27C"/>
                </a:solidFill>
              </a:rPr>
              <a:t>Jenkins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9528048" y="2121408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6E7480"/>
                </a:solidFill>
              </a:rPr>
              <a:t>CI/CD 8088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9418320" y="297180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2A27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528048" y="309067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2A27C"/>
                </a:solidFill>
              </a:rPr>
              <a:t>SonarQube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9528048" y="3401568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6E7480"/>
                </a:solidFill>
              </a:rPr>
              <a:t>Calidad 9000</a:t>
            </a:r>
            <a:endParaRPr lang="en-US" sz="830" dirty="0"/>
          </a:p>
        </p:txBody>
      </p:sp>
      <p:sp>
        <p:nvSpPr>
          <p:cNvPr id="46" name="Text 44"/>
          <p:cNvSpPr/>
          <p:nvPr/>
        </p:nvSpPr>
        <p:spPr>
          <a:xfrm>
            <a:off x="868680" y="57150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01426"/>
                </a:solidFill>
              </a:rPr>
              <a:t>Validación: frontend, microservicios, cache, calidad, pipeline, métricas y logs funcionando en entorno local.</a:t>
            </a:r>
            <a:endParaRPr lang="en-US" sz="1320" dirty="0"/>
          </a:p>
        </p:txBody>
      </p:sp>
      <p:sp>
        <p:nvSpPr>
          <p:cNvPr id="47" name="Text 45"/>
          <p:cNvSpPr/>
          <p:nvPr/>
        </p:nvSpPr>
        <p:spPr>
          <a:xfrm>
            <a:off x="41148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090A4"/>
                </a:solidFill>
              </a:rPr>
              <a:t>DermaNube - Infraestructura como Código y CI/CD</a:t>
            </a:r>
            <a:endParaRPr lang="en-US" sz="680" dirty="0"/>
          </a:p>
        </p:txBody>
      </p:sp>
      <p:sp>
        <p:nvSpPr>
          <p:cNvPr id="48" name="Text 46"/>
          <p:cNvSpPr/>
          <p:nvPr/>
        </p:nvSpPr>
        <p:spPr>
          <a:xfrm>
            <a:off x="11475720" y="64556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090A4"/>
                </a:solidFill>
              </a:rPr>
              <a:t>07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11480" y="6437376"/>
            <a:ext cx="11384280" cy="0"/>
          </a:xfrm>
          <a:prstGeom prst="line">
            <a:avLst/>
          </a:prstGeom>
          <a:noFill/>
          <a:ln w="6350">
            <a:solidFill>
              <a:srgbClr val="D9DEE8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D5E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Estructura del repositorio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12064" y="960120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480"/>
                </a:solidFill>
              </a:rPr>
              <a:t>Separación por aplicación, automatización, infraestructura, observabilidad y políticas.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64008" cy="960120"/>
          </a:xfrm>
          <a:prstGeom prst="rect">
            <a:avLst/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44475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426"/>
                </a:solidFill>
              </a:rPr>
              <a:t>Aplicacion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0392" y="1764792"/>
            <a:ext cx="4800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Frontend, ServicioPersonas, ServicioCitas, ProcesadorNotificaciones, TrabajadorDocumentos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38 archivos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6172200" y="132588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325880"/>
            <a:ext cx="64008" cy="960120"/>
          </a:xfrm>
          <a:prstGeom prst="rect">
            <a:avLst/>
          </a:prstGeom>
          <a:solidFill>
            <a:srgbClr val="6750F2"/>
          </a:solidFill>
          <a:ln w="12700">
            <a:solidFill>
              <a:srgbClr val="6750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36792" y="144475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426"/>
                </a:solidFill>
              </a:rPr>
              <a:t>Infraestructura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36792" y="1764792"/>
            <a:ext cx="4800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Terraform, Ansible y manifiesto Kubernetes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28 archivos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685800" y="265176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651760"/>
            <a:ext cx="64008" cy="960120"/>
          </a:xfrm>
          <a:prstGeom prst="rect">
            <a:avLst/>
          </a:prstGeom>
          <a:solidFill>
            <a:srgbClr val="45A36C"/>
          </a:solidFill>
          <a:ln w="12700">
            <a:solidFill>
              <a:srgbClr val="45A3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77063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426"/>
                </a:solidFill>
              </a:rPr>
              <a:t>Observabilidad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0392" y="3090672"/>
            <a:ext cx="4800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Prometheus, Loki, Alloy y Grafana provisionado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8 archivos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6172200" y="265176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2651760"/>
            <a:ext cx="64008" cy="960120"/>
          </a:xfrm>
          <a:prstGeom prst="rect">
            <a:avLst/>
          </a:prstGeom>
          <a:solidFill>
            <a:srgbClr val="E2A27C"/>
          </a:solidFill>
          <a:ln w="12700">
            <a:solidFill>
              <a:srgbClr val="E2A2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36792" y="277063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426"/>
                </a:solidFill>
              </a:rPr>
              <a:t>Automatizacion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36792" y="3090672"/>
            <a:ext cx="4800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Scripts de despliegue, humo, reversión y Jenkins local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14 archivos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685800" y="397764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3977640"/>
            <a:ext cx="64008" cy="96012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409651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426"/>
                </a:solidFill>
              </a:rPr>
              <a:t>Documentacion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0392" y="4416552"/>
            <a:ext cx="4800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Arquitectura, despliegue AWS, costos, pruebas y excepciones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5 archivos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6172200" y="397764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3977640"/>
            <a:ext cx="64008" cy="960120"/>
          </a:xfrm>
          <a:prstGeom prst="rect">
            <a:avLst/>
          </a:prstGeom>
          <a:solidFill>
            <a:srgbClr val="C94D4D"/>
          </a:solidFill>
          <a:ln w="12700">
            <a:solidFill>
              <a:srgbClr val="C94D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36792" y="409651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426"/>
                </a:solidFill>
              </a:rPr>
              <a:t>Politicas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36792" y="4416552"/>
            <a:ext cx="4800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Reglas de seguridad para infraestructura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1 archivo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731520" y="56235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426"/>
                </a:solidFill>
              </a:rPr>
              <a:t>El repositorio contiene 107 archivos versionados en la rama de ajustes menores.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1148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090A4"/>
                </a:solidFill>
              </a:rPr>
              <a:t>DermaNube - Infraestructura como Código y CI/CD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11475720" y="64556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090A4"/>
                </a:solidFill>
              </a:rPr>
              <a:t>08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11480" y="6437376"/>
            <a:ext cx="11384280" cy="0"/>
          </a:xfrm>
          <a:prstGeom prst="line">
            <a:avLst/>
          </a:prstGeom>
          <a:noFill/>
          <a:ln w="6350">
            <a:solidFill>
              <a:srgbClr val="D9DEE8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0574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5EA6"/>
                </a:solidFill>
              </a:rPr>
              <a:t>3.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874520" y="190195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0D5E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Herramientas de IaC y aplicación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892808" y="285292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E7480"/>
                </a:solidFill>
              </a:rPr>
              <a:t>Herramientas realmente integradas en el repositorio y en la validación local.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355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13D"/>
                </a:solidFill>
              </a:rPr>
              <a:t>DermaNube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D5E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Herramientas utilizadas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12064" y="960120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480"/>
                </a:solidFill>
              </a:rPr>
              <a:t>Cada herramienta tiene una responsabilidad concreta dentro del flujo.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50749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234440"/>
            <a:ext cx="64008" cy="804672"/>
          </a:xfrm>
          <a:prstGeom prst="rect">
            <a:avLst/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35331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426"/>
                </a:solidFill>
              </a:rPr>
              <a:t>Docker Compose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0392" y="1673352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Levanta frontend, microservicios, Redis y observabilidad local.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6172200" y="1234440"/>
            <a:ext cx="50749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234440"/>
            <a:ext cx="64008" cy="804672"/>
          </a:xfrm>
          <a:prstGeom prst="rect">
            <a:avLst/>
          </a:prstGeom>
          <a:solidFill>
            <a:srgbClr val="6750F2"/>
          </a:solidFill>
          <a:ln w="12700">
            <a:solidFill>
              <a:srgbClr val="6750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36792" y="135331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426"/>
                </a:solidFill>
              </a:rPr>
              <a:t>Terraform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36792" y="1673352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Define recursos AWS: red, seguridad, datos, contenedores, presentación y gobierno.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685800" y="2304288"/>
            <a:ext cx="50749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304288"/>
            <a:ext cx="64008" cy="804672"/>
          </a:xfrm>
          <a:prstGeom prst="rect">
            <a:avLst/>
          </a:prstGeom>
          <a:solidFill>
            <a:srgbClr val="E2A27C"/>
          </a:solidFill>
          <a:ln w="12700">
            <a:solidFill>
              <a:srgbClr val="E2A2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423160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426"/>
                </a:solidFill>
              </a:rPr>
              <a:t>Ansible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0392" y="27432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Configura sistemas y herramientas en nodos de automatización.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6172200" y="2304288"/>
            <a:ext cx="50749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2304288"/>
            <a:ext cx="64008" cy="804672"/>
          </a:xfrm>
          <a:prstGeom prst="rect">
            <a:avLst/>
          </a:prstGeom>
          <a:solidFill>
            <a:srgbClr val="45A36C"/>
          </a:solidFill>
          <a:ln w="12700">
            <a:solidFill>
              <a:srgbClr val="45A3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36792" y="2423160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426"/>
                </a:solidFill>
              </a:rPr>
              <a:t>GitHub Actions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36792" y="27432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Instala dependencias, ejecuta pruebas, Checkov, Terraform fmt y SonarQube.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685800" y="3374136"/>
            <a:ext cx="50749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3374136"/>
            <a:ext cx="64008" cy="804672"/>
          </a:xfrm>
          <a:prstGeom prst="rect">
            <a:avLst/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3493008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426"/>
                </a:solidFill>
              </a:rPr>
              <a:t>Jenkins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0392" y="3813048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Ejecuta pipeline local: pruebas, análisis, build, despliegue y humo.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6172200" y="3374136"/>
            <a:ext cx="50749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3374136"/>
            <a:ext cx="64008" cy="804672"/>
          </a:xfrm>
          <a:prstGeom prst="rect">
            <a:avLst/>
          </a:prstGeom>
          <a:solidFill>
            <a:srgbClr val="6750F2"/>
          </a:solidFill>
          <a:ln w="12700">
            <a:solidFill>
              <a:srgbClr val="6750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36792" y="3493008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426"/>
                </a:solidFill>
              </a:rPr>
              <a:t>Checkov / OPA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36792" y="3813048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Revisión estática de infraestructura y políticas de seguridad.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685800" y="4443984"/>
            <a:ext cx="50749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4443984"/>
            <a:ext cx="64008" cy="804672"/>
          </a:xfrm>
          <a:prstGeom prst="rect">
            <a:avLst/>
          </a:prstGeom>
          <a:solidFill>
            <a:srgbClr val="E2A27C"/>
          </a:solidFill>
          <a:ln w="12700">
            <a:solidFill>
              <a:srgbClr val="E2A2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" y="456285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426"/>
                </a:solidFill>
              </a:rPr>
              <a:t>SonarQube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50392" y="4882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Calidad de código, mantenibilidad, seguridad y Quality Gate.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6172200" y="4443984"/>
            <a:ext cx="50749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72200" y="4443984"/>
            <a:ext cx="64008" cy="804672"/>
          </a:xfrm>
          <a:prstGeom prst="rect">
            <a:avLst/>
          </a:prstGeom>
          <a:solidFill>
            <a:srgbClr val="45A36C"/>
          </a:solidFill>
          <a:ln w="12700">
            <a:solidFill>
              <a:srgbClr val="45A36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36792" y="456285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426"/>
                </a:solidFill>
              </a:rPr>
              <a:t>Prometheus + Grafana + Loki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336792" y="4882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Métricas, tableros y registros para diagnóstico operativo.</a:t>
            </a:r>
            <a:endParaRPr lang="en-US" sz="960" dirty="0"/>
          </a:p>
        </p:txBody>
      </p:sp>
      <p:sp>
        <p:nvSpPr>
          <p:cNvPr id="37" name="Text 35"/>
          <p:cNvSpPr/>
          <p:nvPr/>
        </p:nvSpPr>
        <p:spPr>
          <a:xfrm>
            <a:off x="41148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090A4"/>
                </a:solidFill>
              </a:rPr>
              <a:t>DermaNube - Infraestructura como Código y CI/CD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11475720" y="64556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090A4"/>
                </a:solidFill>
              </a:rPr>
              <a:t>10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11480" y="6437376"/>
            <a:ext cx="11384280" cy="0"/>
          </a:xfrm>
          <a:prstGeom prst="line">
            <a:avLst/>
          </a:prstGeom>
          <a:noFill/>
          <a:ln w="6350">
            <a:solidFill>
              <a:srgbClr val="D9DEE8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D5E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Aplicación y microservicios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12064" y="960120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480"/>
                </a:solidFill>
              </a:rPr>
              <a:t>La web no es una maqueta aislada: consume servicios separados y expone métricas.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492240" y="1234440"/>
            <a:ext cx="44348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92240" y="1234440"/>
            <a:ext cx="64008" cy="841248"/>
          </a:xfrm>
          <a:prstGeom prst="rect">
            <a:avLst/>
          </a:prstGeom>
          <a:solidFill>
            <a:srgbClr val="6750F2"/>
          </a:solidFill>
          <a:ln w="12700">
            <a:solidFill>
              <a:srgbClr val="6750F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56832" y="135331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426"/>
                </a:solidFill>
              </a:rPr>
              <a:t>Frontend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656832" y="167335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Sitio estático servido por Nginx en el contenedor dermanubeFrontend. En local queda disponible en localhost:8085.</a:t>
            </a:r>
            <a:endParaRPr lang="en-US" sz="960" dirty="0"/>
          </a:p>
        </p:txBody>
      </p:sp>
      <p:sp>
        <p:nvSpPr>
          <p:cNvPr id="11" name="Shape 8"/>
          <p:cNvSpPr/>
          <p:nvPr/>
        </p:nvSpPr>
        <p:spPr>
          <a:xfrm>
            <a:off x="6492240" y="2331720"/>
            <a:ext cx="44348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92240" y="2331720"/>
            <a:ext cx="64008" cy="841248"/>
          </a:xfrm>
          <a:prstGeom prst="rect">
            <a:avLst/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56832" y="24505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426"/>
                </a:solidFill>
              </a:rPr>
              <a:t>ServicioPersonas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656832" y="277063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Expone especialistas, pacientes, validaciones y métricas en /personas/metricas. Puerto local: 3001.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6492240" y="3429000"/>
            <a:ext cx="44348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92240" y="3429000"/>
            <a:ext cx="64008" cy="841248"/>
          </a:xfrm>
          <a:prstGeom prst="rect">
            <a:avLst/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56832" y="354787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426"/>
                </a:solidFill>
              </a:rPr>
              <a:t>ServicioCitas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656832" y="386791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Registra citas, evita duplicidad de horario y publica eventos en modo local. Puerto local: 3002.</a:t>
            </a:r>
            <a:endParaRPr lang="en-US" sz="960" dirty="0"/>
          </a:p>
        </p:txBody>
      </p:sp>
      <p:sp>
        <p:nvSpPr>
          <p:cNvPr id="19" name="Shape 16"/>
          <p:cNvSpPr/>
          <p:nvPr/>
        </p:nvSpPr>
        <p:spPr>
          <a:xfrm>
            <a:off x="6492240" y="4526280"/>
            <a:ext cx="44348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92240" y="4526280"/>
            <a:ext cx="64008" cy="841248"/>
          </a:xfrm>
          <a:prstGeom prst="rect">
            <a:avLst/>
          </a:prstGeom>
          <a:solidFill>
            <a:srgbClr val="E2A27C"/>
          </a:solidFill>
          <a:ln w="12700">
            <a:solidFill>
              <a:srgbClr val="E2A27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56832" y="464515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426"/>
                </a:solidFill>
              </a:rPr>
              <a:t>TrabajadorDocumentos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656832" y="496519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Incluye prueba para generación de documento PDF y está preparado para ejecutarse como trabajador asíncrono.</a:t>
            </a:r>
            <a:endParaRPr lang="en-US" sz="960" dirty="0"/>
          </a:p>
        </p:txBody>
      </p:sp>
      <p:sp>
        <p:nvSpPr>
          <p:cNvPr id="23" name="Text 20"/>
          <p:cNvSpPr/>
          <p:nvPr/>
        </p:nvSpPr>
        <p:spPr>
          <a:xfrm>
            <a:off x="41148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090A4"/>
                </a:solidFill>
              </a:rPr>
              <a:t>DermaNube - Infraestructura como Código y CI/CD</a:t>
            </a:r>
            <a:endParaRPr lang="en-US" sz="680" dirty="0"/>
          </a:p>
        </p:txBody>
      </p:sp>
      <p:sp>
        <p:nvSpPr>
          <p:cNvPr id="24" name="Text 21"/>
          <p:cNvSpPr/>
          <p:nvPr/>
        </p:nvSpPr>
        <p:spPr>
          <a:xfrm>
            <a:off x="11475720" y="64556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090A4"/>
                </a:solidFill>
              </a:rPr>
              <a:t>11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411480" y="6437376"/>
            <a:ext cx="11384280" cy="0"/>
          </a:xfrm>
          <a:prstGeom prst="line">
            <a:avLst/>
          </a:prstGeom>
          <a:noFill/>
          <a:ln w="6350">
            <a:solidFill>
              <a:srgbClr val="D9DEE8"/>
            </a:solidFill>
            <a:prstDash val="solid"/>
          </a:ln>
        </p:spPr>
      </p:sp>
      <p:pic>
        <p:nvPicPr>
          <p:cNvPr id="26" name="Imagen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629" y="1822986"/>
            <a:ext cx="4957861" cy="33067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D5E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Flujo de CI/CD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12064" y="960120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480"/>
                </a:solidFill>
              </a:rPr>
              <a:t>La entrega se valida antes de construir y redesplegar servicios.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920240" y="2743200"/>
            <a:ext cx="457200" cy="0"/>
          </a:xfrm>
          <a:prstGeom prst="line">
            <a:avLst/>
          </a:prstGeom>
          <a:noFill/>
          <a:ln w="15240">
            <a:solidFill>
              <a:srgbClr val="9AA7B8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129844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0D5E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243230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1426"/>
                </a:solidFill>
              </a:rPr>
              <a:t>GitHub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04088" y="276148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E7480"/>
                </a:solidFill>
              </a:rPr>
              <a:t>Código y ramas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3547872" y="2743200"/>
            <a:ext cx="457200" cy="0"/>
          </a:xfrm>
          <a:prstGeom prst="line">
            <a:avLst/>
          </a:prstGeom>
          <a:noFill/>
          <a:ln w="15240">
            <a:solidFill>
              <a:srgbClr val="9AA7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221992" y="2148840"/>
            <a:ext cx="129844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6750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243230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1426"/>
                </a:solidFill>
              </a:rPr>
              <a:t>npm ci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331720" y="276148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E7480"/>
                </a:solidFill>
              </a:rPr>
              <a:t>Dependencias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5175504" y="2743200"/>
            <a:ext cx="457200" cy="0"/>
          </a:xfrm>
          <a:prstGeom prst="line">
            <a:avLst/>
          </a:prstGeom>
          <a:noFill/>
          <a:ln w="15240">
            <a:solidFill>
              <a:srgbClr val="9AA7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849624" y="2148840"/>
            <a:ext cx="129844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45A3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59352" y="243230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1426"/>
                </a:solidFill>
              </a:rPr>
              <a:t>npm test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959352" y="276148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E7480"/>
                </a:solidFill>
              </a:rPr>
              <a:t>5 pruebas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6803136" y="2743200"/>
            <a:ext cx="457200" cy="0"/>
          </a:xfrm>
          <a:prstGeom prst="line">
            <a:avLst/>
          </a:prstGeom>
          <a:noFill/>
          <a:ln w="15240">
            <a:solidFill>
              <a:srgbClr val="9AA7B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77256" y="2148840"/>
            <a:ext cx="129844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E2A2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86984" y="243230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1426"/>
                </a:solidFill>
              </a:rPr>
              <a:t>SonarQube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586984" y="276148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E7480"/>
                </a:solidFill>
              </a:rPr>
              <a:t>Quality Gate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8430768" y="2743200"/>
            <a:ext cx="457200" cy="0"/>
          </a:xfrm>
          <a:prstGeom prst="line">
            <a:avLst/>
          </a:prstGeom>
          <a:noFill/>
          <a:ln w="15240">
            <a:solidFill>
              <a:srgbClr val="9AA7B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104888" y="2148840"/>
            <a:ext cx="129844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0D5E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14616" y="243230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1426"/>
                </a:solidFill>
              </a:rPr>
              <a:t>Docker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214616" y="276148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E7480"/>
                </a:solidFill>
              </a:rPr>
              <a:t>Build imágenes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10058400" y="2743200"/>
            <a:ext cx="457200" cy="0"/>
          </a:xfrm>
          <a:prstGeom prst="line">
            <a:avLst/>
          </a:prstGeom>
          <a:noFill/>
          <a:ln w="15240">
            <a:solidFill>
              <a:srgbClr val="9AA7B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732520" y="2148840"/>
            <a:ext cx="129844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6750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42248" y="243230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1426"/>
                </a:solidFill>
              </a:rPr>
              <a:t>Compose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842248" y="276148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E7480"/>
                </a:solidFill>
              </a:rPr>
              <a:t>Despliegue local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10360152" y="2148840"/>
            <a:ext cx="129844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45A36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69880" y="243230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1426"/>
                </a:solidFill>
              </a:rPr>
              <a:t>Smoke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0469880" y="276148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E7480"/>
                </a:solidFill>
              </a:rPr>
              <a:t>Salud servicios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914400" y="4114800"/>
            <a:ext cx="102412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34440" y="43708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5A36C"/>
                </a:solidFill>
              </a:rPr>
              <a:t>Resultado validado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3657600" y="4325112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E7480"/>
                </a:solidFill>
              </a:rPr>
              <a:t>El pipeline local de Jenkins completó obtención de código, pruebas, análisis SonarQube, construcción Docker, despliegue local, pruebas de humo y consulta del Quality Gate.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1148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090A4"/>
                </a:solidFill>
              </a:rPr>
              <a:t>DermaNube - Infraestructura como Código y CI/CD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11475720" y="64556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090A4"/>
                </a:solidFill>
              </a:rPr>
              <a:t>12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11480" y="6437376"/>
            <a:ext cx="11384280" cy="0"/>
          </a:xfrm>
          <a:prstGeom prst="line">
            <a:avLst/>
          </a:prstGeom>
          <a:noFill/>
          <a:ln w="6350">
            <a:solidFill>
              <a:srgbClr val="D9DEE8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D5E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local en Jenkins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12064" y="960120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480"/>
                </a:solidFill>
              </a:rPr>
              <a:t>Ejecución #2 completada correctamente y conservada como evidencia.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6072" y="1307592"/>
            <a:ext cx="5522976" cy="4517136"/>
          </a:xfrm>
          <a:prstGeom prst="rect">
            <a:avLst/>
          </a:prstGeom>
          <a:solidFill>
            <a:srgbClr val="FFFFFF"/>
          </a:solidFill>
          <a:ln w="10160">
            <a:solidFill>
              <a:srgbClr val="CDD4DF"/>
            </a:solidFill>
            <a:prstDash val="solid"/>
          </a:ln>
        </p:spPr>
      </p:sp>
      <p:pic>
        <p:nvPicPr>
          <p:cNvPr id="6" name="Image 0" descr="/mnt/data/jenkins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00615"/>
            <a:ext cx="5486400" cy="293109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92240" y="1234440"/>
            <a:ext cx="205740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7DD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11112" y="1316736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45A36C"/>
                </a:solidFill>
              </a:rPr>
              <a:t>SUCCESS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6611112" y="1673352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101426"/>
                </a:solidFill>
              </a:rPr>
              <a:t>estado final del pipeline</a:t>
            </a:r>
            <a:endParaRPr lang="en-US" sz="730" dirty="0"/>
          </a:p>
        </p:txBody>
      </p:sp>
      <p:sp>
        <p:nvSpPr>
          <p:cNvPr id="10" name="Shape 7"/>
          <p:cNvSpPr/>
          <p:nvPr/>
        </p:nvSpPr>
        <p:spPr>
          <a:xfrm>
            <a:off x="8796528" y="1234440"/>
            <a:ext cx="210312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7DD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15400" y="1316736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D5EA6"/>
                </a:solidFill>
              </a:rPr>
              <a:t>6 min 37 s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8915400" y="1673352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101426"/>
                </a:solidFill>
              </a:rPr>
              <a:t>duración registrada</a:t>
            </a:r>
            <a:endParaRPr lang="en-US" sz="730" dirty="0"/>
          </a:p>
        </p:txBody>
      </p:sp>
      <p:sp>
        <p:nvSpPr>
          <p:cNvPr id="13" name="Shape 10"/>
          <p:cNvSpPr/>
          <p:nvPr/>
        </p:nvSpPr>
        <p:spPr>
          <a:xfrm>
            <a:off x="6492240" y="2240280"/>
            <a:ext cx="2148840" cy="347472"/>
          </a:xfrm>
          <a:prstGeom prst="roundRect">
            <a:avLst>
              <a:gd name="adj" fmla="val 13158"/>
            </a:avLst>
          </a:prstGeom>
          <a:solidFill>
            <a:srgbClr val="EFF7F1"/>
          </a:solidFill>
          <a:ln w="7620">
            <a:solidFill>
              <a:srgbClr val="B9DDC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2331720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5A36C"/>
                </a:solidFill>
              </a:rPr>
              <a:t>ObtenerCodigo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8869680" y="2240280"/>
            <a:ext cx="2148840" cy="347472"/>
          </a:xfrm>
          <a:prstGeom prst="roundRect">
            <a:avLst>
              <a:gd name="adj" fmla="val 13158"/>
            </a:avLst>
          </a:prstGeom>
          <a:solidFill>
            <a:srgbClr val="EFF7F1"/>
          </a:solidFill>
          <a:ln w="7620">
            <a:solidFill>
              <a:srgbClr val="B9DDC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961120" y="2331720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5A36C"/>
                </a:solidFill>
              </a:rPr>
              <a:t>InstalarDependencias</a:t>
            </a:r>
            <a:endParaRPr lang="en-US" sz="820" dirty="0"/>
          </a:p>
        </p:txBody>
      </p:sp>
      <p:sp>
        <p:nvSpPr>
          <p:cNvPr id="17" name="Shape 14"/>
          <p:cNvSpPr/>
          <p:nvPr/>
        </p:nvSpPr>
        <p:spPr>
          <a:xfrm>
            <a:off x="6492240" y="2807208"/>
            <a:ext cx="2148840" cy="347472"/>
          </a:xfrm>
          <a:prstGeom prst="roundRect">
            <a:avLst>
              <a:gd name="adj" fmla="val 13158"/>
            </a:avLst>
          </a:prstGeom>
          <a:solidFill>
            <a:srgbClr val="EFF7F1"/>
          </a:solidFill>
          <a:ln w="7620">
            <a:solidFill>
              <a:srgbClr val="B9DDC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0" y="2898648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5A36C"/>
                </a:solidFill>
              </a:rPr>
              <a:t>EjecutarPruebas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8869680" y="2807208"/>
            <a:ext cx="2148840" cy="347472"/>
          </a:xfrm>
          <a:prstGeom prst="roundRect">
            <a:avLst>
              <a:gd name="adj" fmla="val 13158"/>
            </a:avLst>
          </a:prstGeom>
          <a:solidFill>
            <a:srgbClr val="EFF7F1"/>
          </a:solidFill>
          <a:ln w="7620">
            <a:solidFill>
              <a:srgbClr val="B9DDC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961120" y="2898648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5A36C"/>
                </a:solidFill>
              </a:rPr>
              <a:t>AnalizarCalidad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6492240" y="3374136"/>
            <a:ext cx="2148840" cy="347472"/>
          </a:xfrm>
          <a:prstGeom prst="roundRect">
            <a:avLst>
              <a:gd name="adj" fmla="val 13158"/>
            </a:avLst>
          </a:prstGeom>
          <a:solidFill>
            <a:srgbClr val="EFF7F1"/>
          </a:solidFill>
          <a:ln w="7620">
            <a:solidFill>
              <a:srgbClr val="B9DDC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83680" y="346557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5A36C"/>
                </a:solidFill>
              </a:rPr>
              <a:t>ConstruirImagenes</a:t>
            </a:r>
            <a:endParaRPr lang="en-US" sz="820" dirty="0"/>
          </a:p>
        </p:txBody>
      </p:sp>
      <p:sp>
        <p:nvSpPr>
          <p:cNvPr id="23" name="Shape 20"/>
          <p:cNvSpPr/>
          <p:nvPr/>
        </p:nvSpPr>
        <p:spPr>
          <a:xfrm>
            <a:off x="8869680" y="3374136"/>
            <a:ext cx="2148840" cy="347472"/>
          </a:xfrm>
          <a:prstGeom prst="roundRect">
            <a:avLst>
              <a:gd name="adj" fmla="val 13158"/>
            </a:avLst>
          </a:prstGeom>
          <a:solidFill>
            <a:srgbClr val="EFF7F1"/>
          </a:solidFill>
          <a:ln w="7620">
            <a:solidFill>
              <a:srgbClr val="B9DDC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961120" y="346557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5A36C"/>
                </a:solidFill>
              </a:rPr>
              <a:t>DesplegarLocal</a:t>
            </a:r>
            <a:endParaRPr lang="en-US" sz="820" dirty="0"/>
          </a:p>
        </p:txBody>
      </p:sp>
      <p:sp>
        <p:nvSpPr>
          <p:cNvPr id="25" name="Shape 22"/>
          <p:cNvSpPr/>
          <p:nvPr/>
        </p:nvSpPr>
        <p:spPr>
          <a:xfrm>
            <a:off x="6492240" y="3941064"/>
            <a:ext cx="2148840" cy="347472"/>
          </a:xfrm>
          <a:prstGeom prst="roundRect">
            <a:avLst>
              <a:gd name="adj" fmla="val 13158"/>
            </a:avLst>
          </a:prstGeom>
          <a:solidFill>
            <a:srgbClr val="EFF7F1"/>
          </a:solidFill>
          <a:ln w="7620">
            <a:solidFill>
              <a:srgbClr val="B9DDC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583680" y="4032504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5A36C"/>
                </a:solidFill>
              </a:rPr>
              <a:t>PruebasHumo</a:t>
            </a:r>
            <a:endParaRPr lang="en-US" sz="820" dirty="0"/>
          </a:p>
        </p:txBody>
      </p:sp>
      <p:sp>
        <p:nvSpPr>
          <p:cNvPr id="27" name="Shape 24"/>
          <p:cNvSpPr/>
          <p:nvPr/>
        </p:nvSpPr>
        <p:spPr>
          <a:xfrm>
            <a:off x="8869680" y="3941064"/>
            <a:ext cx="2148840" cy="347472"/>
          </a:xfrm>
          <a:prstGeom prst="roundRect">
            <a:avLst>
              <a:gd name="adj" fmla="val 13158"/>
            </a:avLst>
          </a:prstGeom>
          <a:solidFill>
            <a:srgbClr val="EFF7F1"/>
          </a:solidFill>
          <a:ln w="7620">
            <a:solidFill>
              <a:srgbClr val="B9DDC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961120" y="4032504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5A36C"/>
                </a:solidFill>
              </a:rPr>
              <a:t>ResultadoCalidad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6492240" y="50749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E7480"/>
                </a:solidFill>
              </a:rPr>
              <a:t>El primer intento falló por token de SonarQube; se corrigió la credencial y la segunda ejecución cerró en verde. No se ocultó el error: se dejó evidencia del ciclo de corrección.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1148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090A4"/>
                </a:solidFill>
              </a:rPr>
              <a:t>DermaNube - Infraestructura como Código y CI/CD</a:t>
            </a:r>
            <a:endParaRPr lang="en-US" sz="680" dirty="0"/>
          </a:p>
        </p:txBody>
      </p:sp>
      <p:sp>
        <p:nvSpPr>
          <p:cNvPr id="31" name="Text 28"/>
          <p:cNvSpPr/>
          <p:nvPr/>
        </p:nvSpPr>
        <p:spPr>
          <a:xfrm>
            <a:off x="11475720" y="64556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090A4"/>
                </a:solidFill>
              </a:rPr>
              <a:t>13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411480" y="6437376"/>
            <a:ext cx="11384280" cy="0"/>
          </a:xfrm>
          <a:prstGeom prst="line">
            <a:avLst/>
          </a:prstGeom>
          <a:noFill/>
          <a:ln w="6350">
            <a:solidFill>
              <a:srgbClr val="D9DEE8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D5E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Pruebas automatizadas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12064" y="960120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480"/>
                </a:solidFill>
              </a:rPr>
              <a:t>La validación de aplicación se ejecuta con node --test desde npm test.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66294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087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5EA6"/>
                </a:solidFill>
              </a:rPr>
              <a:t>Componente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834640" y="15087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5EA6"/>
                </a:solidFill>
              </a:rPr>
              <a:t>Caso validado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80760" y="15087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5EA6"/>
                </a:solidFill>
              </a:rPr>
              <a:t>Resultado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96112" y="1810512"/>
            <a:ext cx="6172200" cy="0"/>
          </a:xfrm>
          <a:prstGeom prst="line">
            <a:avLst/>
          </a:prstGeom>
          <a:noFill/>
          <a:ln w="7620">
            <a:solidFill>
              <a:srgbClr val="E5E9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01426"/>
                </a:solidFill>
              </a:rPr>
              <a:t>ServicioPersonas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34640" y="19659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E7480"/>
                </a:solidFill>
              </a:rPr>
              <a:t>Lista especialistas disponibles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80760" y="1965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5A36C"/>
                </a:solidFill>
              </a:rPr>
              <a:t>Aprobado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" y="2432304"/>
            <a:ext cx="6172200" cy="0"/>
          </a:xfrm>
          <a:prstGeom prst="line">
            <a:avLst/>
          </a:prstGeom>
          <a:noFill/>
          <a:ln w="7620">
            <a:solidFill>
              <a:srgbClr val="E5E9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5877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01426"/>
                </a:solidFill>
              </a:rPr>
              <a:t>ServicioPersonas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34640" y="258775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E7480"/>
                </a:solidFill>
              </a:rPr>
              <a:t>Rechaza pacientes incompletos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80760" y="25877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5A36C"/>
                </a:solidFill>
              </a:rPr>
              <a:t>Aprobado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6112" y="3054096"/>
            <a:ext cx="6172200" cy="0"/>
          </a:xfrm>
          <a:prstGeom prst="line">
            <a:avLst/>
          </a:prstGeom>
          <a:noFill/>
          <a:ln w="7620">
            <a:solidFill>
              <a:srgbClr val="E5E9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2095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01426"/>
                </a:solidFill>
              </a:rPr>
              <a:t>ServicioCitas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34640" y="3209544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E7480"/>
                </a:solidFill>
              </a:rPr>
              <a:t>Registra y lista una cita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80760" y="32095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5A36C"/>
                </a:solidFill>
              </a:rPr>
              <a:t>Aprobado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96112" y="3675888"/>
            <a:ext cx="6172200" cy="0"/>
          </a:xfrm>
          <a:prstGeom prst="line">
            <a:avLst/>
          </a:prstGeom>
          <a:noFill/>
          <a:ln w="7620">
            <a:solidFill>
              <a:srgbClr val="E5E9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83133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01426"/>
                </a:solidFill>
              </a:rPr>
              <a:t>ServicioCitas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834640" y="3831336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E7480"/>
                </a:solidFill>
              </a:rPr>
              <a:t>Evita reservar el mismo horario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80760" y="38313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5A36C"/>
                </a:solidFill>
              </a:rPr>
              <a:t>Aprobado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96112" y="4297680"/>
            <a:ext cx="6172200" cy="0"/>
          </a:xfrm>
          <a:prstGeom prst="line">
            <a:avLst/>
          </a:prstGeom>
          <a:noFill/>
          <a:ln w="7620">
            <a:solidFill>
              <a:srgbClr val="E5E9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4531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01426"/>
                </a:solidFill>
              </a:rPr>
              <a:t>TrabajadorDocumentos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834640" y="445312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E7480"/>
                </a:solidFill>
              </a:rPr>
              <a:t>Genera un documento PDF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80760" y="44531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5A36C"/>
                </a:solidFill>
              </a:rPr>
              <a:t>Aprobado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818120" y="1508760"/>
            <a:ext cx="28346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75320" y="1874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45A36C"/>
                </a:solidFill>
              </a:rPr>
              <a:t>5 / 5</a:t>
            </a:r>
            <a:endParaRPr lang="en-US" sz="3500" dirty="0"/>
          </a:p>
        </p:txBody>
      </p:sp>
      <p:sp>
        <p:nvSpPr>
          <p:cNvPr id="31" name="Text 29"/>
          <p:cNvSpPr/>
          <p:nvPr/>
        </p:nvSpPr>
        <p:spPr>
          <a:xfrm>
            <a:off x="8275320" y="2651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1426"/>
                </a:solidFill>
              </a:rPr>
              <a:t>pruebas aprobadas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01426"/>
                </a:solidFill>
              </a:rPr>
              <a:t>0 fallidas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101584" y="3657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7480"/>
                </a:solidFill>
              </a:rPr>
              <a:t>Comando validado: npm test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1148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090A4"/>
                </a:solidFill>
              </a:rPr>
              <a:t>DermaNube - Infraestructura como Código y CI/CD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11475720" y="64556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090A4"/>
                </a:solidFill>
              </a:rPr>
              <a:t>14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11480" y="6437376"/>
            <a:ext cx="11384280" cy="0"/>
          </a:xfrm>
          <a:prstGeom prst="line">
            <a:avLst/>
          </a:prstGeom>
          <a:noFill/>
          <a:ln w="6350">
            <a:solidFill>
              <a:srgbClr val="D9DEE8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D5E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Análisis de calidad con SonarQube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12064" y="960120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480"/>
                </a:solidFill>
              </a:rPr>
              <a:t>Se validó el proyecto DermaNube y el Quality Gate quedó aprobado.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6072" y="1307592"/>
            <a:ext cx="6117336" cy="4562856"/>
          </a:xfrm>
          <a:prstGeom prst="rect">
            <a:avLst/>
          </a:prstGeom>
          <a:solidFill>
            <a:srgbClr val="FFFFFF"/>
          </a:solidFill>
          <a:ln w="10160">
            <a:solidFill>
              <a:srgbClr val="CDD4DF"/>
            </a:solidFill>
            <a:prstDash val="solid"/>
          </a:ln>
        </p:spPr>
      </p:sp>
      <p:pic>
        <p:nvPicPr>
          <p:cNvPr id="6" name="Image 0" descr="/mnt/data/sonar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64707"/>
            <a:ext cx="6080760" cy="324862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086600" y="12801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86600" y="1280160"/>
            <a:ext cx="64008" cy="822960"/>
          </a:xfrm>
          <a:prstGeom prst="rect">
            <a:avLst/>
          </a:prstGeom>
          <a:solidFill>
            <a:srgbClr val="45A36C"/>
          </a:solidFill>
          <a:ln w="12700">
            <a:solidFill>
              <a:srgbClr val="45A36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251192" y="13990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426"/>
                </a:solidFill>
              </a:rPr>
              <a:t>Quality Gate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251192" y="17190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Passed. El análisis fue aceptado por la compuerta configurada.</a:t>
            </a:r>
            <a:endParaRPr lang="en-US" sz="960" dirty="0"/>
          </a:p>
        </p:txBody>
      </p:sp>
      <p:sp>
        <p:nvSpPr>
          <p:cNvPr id="11" name="Shape 8"/>
          <p:cNvSpPr/>
          <p:nvPr/>
        </p:nvSpPr>
        <p:spPr>
          <a:xfrm>
            <a:off x="7086600" y="233172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086600" y="2331720"/>
            <a:ext cx="64008" cy="868680"/>
          </a:xfrm>
          <a:prstGeom prst="rect">
            <a:avLst/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51192" y="24505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426"/>
                </a:solidFill>
              </a:rPr>
              <a:t>Alcance del análisis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251192" y="277063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Fuentes en Aplicacion, pruebas en carpetas Pruebas y exclusión de node_modules y recursos SVG.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7086600" y="342900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086600" y="3429000"/>
            <a:ext cx="64008" cy="960120"/>
          </a:xfrm>
          <a:prstGeom prst="rect">
            <a:avLst/>
          </a:prstGeom>
          <a:solidFill>
            <a:srgbClr val="C94D4D"/>
          </a:solidFill>
          <a:ln w="12700">
            <a:solidFill>
              <a:srgbClr val="C94D4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51192" y="354787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426"/>
                </a:solidFill>
              </a:rPr>
              <a:t>Lectura honesta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251192" y="3867912"/>
            <a:ext cx="3840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No se debe afirmar cero problemas: SonarQube muestra incidencias y cobertura 0.0 %, pero no bloqueó el Quality Gate.</a:t>
            </a:r>
            <a:endParaRPr lang="en-US" sz="960" dirty="0"/>
          </a:p>
        </p:txBody>
      </p:sp>
      <p:sp>
        <p:nvSpPr>
          <p:cNvPr id="19" name="Text 16"/>
          <p:cNvSpPr/>
          <p:nvPr/>
        </p:nvSpPr>
        <p:spPr>
          <a:xfrm>
            <a:off x="7114032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E7480"/>
                </a:solidFill>
              </a:rPr>
              <a:t>Configuración: sonar-project.properties</a:t>
            </a:r>
            <a:endParaRPr lang="en-US" sz="1080" dirty="0"/>
          </a:p>
        </p:txBody>
      </p:sp>
      <p:sp>
        <p:nvSpPr>
          <p:cNvPr id="20" name="Text 17"/>
          <p:cNvSpPr/>
          <p:nvPr/>
        </p:nvSpPr>
        <p:spPr>
          <a:xfrm>
            <a:off x="41148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090A4"/>
                </a:solidFill>
              </a:rPr>
              <a:t>DermaNube - Infraestructura como Código y CI/CD</a:t>
            </a:r>
            <a:endParaRPr lang="en-US" sz="680" dirty="0"/>
          </a:p>
        </p:txBody>
      </p:sp>
      <p:sp>
        <p:nvSpPr>
          <p:cNvPr id="21" name="Text 18"/>
          <p:cNvSpPr/>
          <p:nvPr/>
        </p:nvSpPr>
        <p:spPr>
          <a:xfrm>
            <a:off x="11475720" y="64556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090A4"/>
                </a:solidFill>
              </a:rPr>
              <a:t>15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411480" y="6437376"/>
            <a:ext cx="11384280" cy="0"/>
          </a:xfrm>
          <a:prstGeom prst="line">
            <a:avLst/>
          </a:prstGeom>
          <a:noFill/>
          <a:ln w="6350">
            <a:solidFill>
              <a:srgbClr val="D9DEE8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D5E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Observabilidad: métricas y registros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12064" y="960120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480"/>
                </a:solidFill>
              </a:rPr>
              <a:t>Prometheus recolecta métricas; Grafana presenta paneles y Loki centraliza logs.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6072" y="1307592"/>
            <a:ext cx="6620256" cy="4562856"/>
          </a:xfrm>
          <a:prstGeom prst="rect">
            <a:avLst/>
          </a:prstGeom>
          <a:solidFill>
            <a:srgbClr val="FFFFFF"/>
          </a:solidFill>
          <a:ln w="10160">
            <a:solidFill>
              <a:srgbClr val="CDD4DF"/>
            </a:solidFill>
            <a:prstDash val="solid"/>
          </a:ln>
        </p:spPr>
      </p:sp>
      <p:pic>
        <p:nvPicPr>
          <p:cNvPr id="6" name="Image 0" descr="/mnt/data/grafana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48250"/>
            <a:ext cx="6583680" cy="34815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52360" y="13258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52360" y="1325880"/>
            <a:ext cx="64008" cy="868680"/>
          </a:xfrm>
          <a:prstGeom prst="rect">
            <a:avLst/>
          </a:prstGeom>
          <a:solidFill>
            <a:srgbClr val="45A36C"/>
          </a:solidFill>
          <a:ln w="12700">
            <a:solidFill>
              <a:srgbClr val="45A36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16952" y="144475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426"/>
                </a:solidFill>
              </a:rPr>
              <a:t>Prometheus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616952" y="1764792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Targets confirmados con up = 1: ServicioPersonas, ServicioCitas, NodeExporter y cAdvisor.</a:t>
            </a:r>
            <a:endParaRPr lang="en-US" sz="960" dirty="0"/>
          </a:p>
        </p:txBody>
      </p:sp>
      <p:sp>
        <p:nvSpPr>
          <p:cNvPr id="11" name="Shape 8"/>
          <p:cNvSpPr/>
          <p:nvPr/>
        </p:nvSpPr>
        <p:spPr>
          <a:xfrm>
            <a:off x="7452360" y="242316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52360" y="2423160"/>
            <a:ext cx="64008" cy="868680"/>
          </a:xfrm>
          <a:prstGeom prst="rect">
            <a:avLst/>
          </a:prstGeom>
          <a:solidFill>
            <a:srgbClr val="45A36C"/>
          </a:solidFill>
          <a:ln w="12700">
            <a:solidFill>
              <a:srgbClr val="45A36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16952" y="254203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426"/>
                </a:solidFill>
              </a:rPr>
              <a:t>Grafana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616952" y="2862072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Dashboard operativo con solicitudes por segundo, duración promedio, CPU, citas, consultas y registros.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7452360" y="352044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52360" y="3520440"/>
            <a:ext cx="64008" cy="868680"/>
          </a:xfrm>
          <a:prstGeom prst="rect">
            <a:avLst/>
          </a:prstGeom>
          <a:solidFill>
            <a:srgbClr val="45A36C"/>
          </a:solidFill>
          <a:ln w="12700">
            <a:solidFill>
              <a:srgbClr val="45A36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16952" y="363931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426"/>
                </a:solidFill>
              </a:rPr>
              <a:t>Loki + Alloy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616952" y="3959352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Alloy lee eventos del entorno Docker y los envía a Loki para consulta desde Grafana.</a:t>
            </a:r>
            <a:endParaRPr lang="en-US" sz="960" dirty="0"/>
          </a:p>
        </p:txBody>
      </p:sp>
      <p:sp>
        <p:nvSpPr>
          <p:cNvPr id="19" name="Shape 16"/>
          <p:cNvSpPr/>
          <p:nvPr/>
        </p:nvSpPr>
        <p:spPr>
          <a:xfrm>
            <a:off x="7452360" y="46177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452360" y="4617720"/>
            <a:ext cx="64008" cy="868680"/>
          </a:xfrm>
          <a:prstGeom prst="rect">
            <a:avLst/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16952" y="473659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426"/>
                </a:solidFill>
              </a:rPr>
              <a:t>Validación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616952" y="5056632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curl /api/health de Grafana respondió database ok; Prometheus /-/healthy respondió healthy.</a:t>
            </a:r>
            <a:endParaRPr lang="en-US" sz="960" dirty="0"/>
          </a:p>
        </p:txBody>
      </p:sp>
      <p:sp>
        <p:nvSpPr>
          <p:cNvPr id="23" name="Text 20"/>
          <p:cNvSpPr/>
          <p:nvPr/>
        </p:nvSpPr>
        <p:spPr>
          <a:xfrm>
            <a:off x="41148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090A4"/>
                </a:solidFill>
              </a:rPr>
              <a:t>DermaNube - Infraestructura como Código y CI/CD</a:t>
            </a:r>
            <a:endParaRPr lang="en-US" sz="680" dirty="0"/>
          </a:p>
        </p:txBody>
      </p:sp>
      <p:sp>
        <p:nvSpPr>
          <p:cNvPr id="24" name="Text 21"/>
          <p:cNvSpPr/>
          <p:nvPr/>
        </p:nvSpPr>
        <p:spPr>
          <a:xfrm>
            <a:off x="11475720" y="64556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090A4"/>
                </a:solidFill>
              </a:rPr>
              <a:t>16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411480" y="6437376"/>
            <a:ext cx="11384280" cy="0"/>
          </a:xfrm>
          <a:prstGeom prst="line">
            <a:avLst/>
          </a:prstGeom>
          <a:noFill/>
          <a:ln w="6350">
            <a:solidFill>
              <a:srgbClr val="D9DEE8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D5E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Infraestructura como Código preparada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12064" y="960120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480"/>
                </a:solidFill>
              </a:rPr>
              <a:t>La nube está descrita en código, aunque no se ejecutó el despliegue AWS por disponibilidad de cuenta.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298448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298448"/>
            <a:ext cx="64008" cy="914400"/>
          </a:xfrm>
          <a:prstGeom prst="rect">
            <a:avLst/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417320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426"/>
                </a:solidFill>
              </a:rPr>
              <a:t>Terraform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0392" y="1737360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Red, seguridad, presentación, datos, contenedores, mensajería, observabilidad administrada, gobierno y salidas.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6172200" y="1298448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298448"/>
            <a:ext cx="64008" cy="914400"/>
          </a:xfrm>
          <a:prstGeom prst="rect">
            <a:avLst/>
          </a:prstGeom>
          <a:solidFill>
            <a:srgbClr val="6750F2"/>
          </a:solidFill>
          <a:ln w="12700">
            <a:solidFill>
              <a:srgbClr val="6750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36792" y="1417320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426"/>
                </a:solidFill>
              </a:rPr>
              <a:t>Ansible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36792" y="1737360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Configuración de servidor de automatización y herramientas necesarias para operar despliegues.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685800" y="256032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560320"/>
            <a:ext cx="64008" cy="914400"/>
          </a:xfrm>
          <a:prstGeom prst="rect">
            <a:avLst/>
          </a:prstGeom>
          <a:solidFill>
            <a:srgbClr val="45A36C"/>
          </a:solidFill>
          <a:ln w="12700">
            <a:solidFill>
              <a:srgbClr val="45A3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67919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426"/>
                </a:solidFill>
              </a:rPr>
              <a:t>Kubernetes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0392" y="2999232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Manifiesto para TrabajadorDocumentos preparado para ejecución en EKS.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6172200" y="256032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2560320"/>
            <a:ext cx="64008" cy="914400"/>
          </a:xfrm>
          <a:prstGeom prst="rect">
            <a:avLst/>
          </a:prstGeom>
          <a:solidFill>
            <a:srgbClr val="E2A27C"/>
          </a:solidFill>
          <a:ln w="12700">
            <a:solidFill>
              <a:srgbClr val="E2A2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36792" y="267919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426"/>
                </a:solidFill>
              </a:rPr>
              <a:t>Checkov / OPA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36792" y="2999232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Validación de archivos IaC para evitar configuraciones inseguras antes de desplegar.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685800" y="3822192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3822192"/>
            <a:ext cx="64008" cy="9144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3941064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426"/>
                </a:solidFill>
              </a:rPr>
              <a:t>Costos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0392" y="426110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Documento de costos diferencia modo controlado y modo completo con recursos de mayor costo.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6172200" y="3822192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3822192"/>
            <a:ext cx="64008" cy="914400"/>
          </a:xfrm>
          <a:prstGeom prst="rect">
            <a:avLst/>
          </a:prstGeom>
          <a:solidFill>
            <a:srgbClr val="C94D4D"/>
          </a:solidFill>
          <a:ln w="12700">
            <a:solidFill>
              <a:srgbClr val="C94D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36792" y="3941064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426"/>
                </a:solidFill>
              </a:rPr>
              <a:t>Reversión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36792" y="426110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E7480"/>
                </a:solidFill>
              </a:rPr>
              <a:t>Script y flujo de reversión a definición de tarea anterior en caso de fallo.</a:t>
            </a:r>
            <a:endParaRPr lang="en-US" sz="960" dirty="0"/>
          </a:p>
        </p:txBody>
      </p:sp>
      <p:sp>
        <p:nvSpPr>
          <p:cNvPr id="30" name="Text 28"/>
          <p:cNvSpPr/>
          <p:nvPr/>
        </p:nvSpPr>
        <p:spPr>
          <a:xfrm>
            <a:off x="41148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090A4"/>
                </a:solidFill>
              </a:rPr>
              <a:t>DermaNube - Infraestructura como Código y CI/CD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11475720" y="64556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090A4"/>
                </a:solidFill>
              </a:rPr>
              <a:t>17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11480" y="6437376"/>
            <a:ext cx="11384280" cy="0"/>
          </a:xfrm>
          <a:prstGeom prst="line">
            <a:avLst/>
          </a:prstGeom>
          <a:noFill/>
          <a:ln w="6350">
            <a:solidFill>
              <a:srgbClr val="D9DEE8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D5E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Seguridad, resiliencia y control financiero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12064" y="960120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480"/>
                </a:solidFill>
              </a:rPr>
              <a:t>El diseño no se limita al despliegue: también considera protección y operación.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475488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01426"/>
                </a:solidFill>
              </a:rPr>
              <a:t>S3 privado con CloudFront OAC</a:t>
            </a:r>
            <a:endParaRPr lang="en-US" sz="1400" dirty="0"/>
          </a:p>
          <a:p>
            <a:r>
              <a:rPr lang="en-US" sz="1400" dirty="0">
                <a:solidFill>
                  <a:srgbClr val="101426"/>
                </a:solidFill>
              </a:rPr>
              <a:t>API Gateway hacia ALB interno</a:t>
            </a:r>
            <a:endParaRPr lang="en-US" sz="1400" dirty="0"/>
          </a:p>
          <a:p>
            <a:r>
              <a:rPr lang="en-US" sz="1400" dirty="0">
                <a:solidFill>
                  <a:srgbClr val="101426"/>
                </a:solidFill>
              </a:rPr>
              <a:t>Cognito para autenticación</a:t>
            </a:r>
            <a:endParaRPr lang="en-US" sz="1400" dirty="0"/>
          </a:p>
          <a:p>
            <a:r>
              <a:rPr lang="en-US" sz="1400" dirty="0">
                <a:solidFill>
                  <a:srgbClr val="101426"/>
                </a:solidFill>
              </a:rPr>
              <a:t>Subredes privadas para tareas</a:t>
            </a:r>
            <a:endParaRPr lang="en-US" sz="1400" dirty="0"/>
          </a:p>
          <a:p>
            <a:r>
              <a:rPr lang="en-US" sz="1400" dirty="0">
                <a:solidFill>
                  <a:srgbClr val="101426"/>
                </a:solidFill>
              </a:rPr>
              <a:t>Cifrado en datos y colas</a:t>
            </a:r>
            <a:endParaRPr lang="en-US" sz="1400" dirty="0"/>
          </a:p>
          <a:p>
            <a:r>
              <a:rPr lang="en-US" sz="1400" dirty="0">
                <a:solidFill>
                  <a:srgbClr val="101426"/>
                </a:solidFill>
              </a:rPr>
              <a:t>CloudTrail para auditoría</a:t>
            </a:r>
            <a:endParaRPr lang="en-US" sz="1400" dirty="0"/>
          </a:p>
          <a:p>
            <a:r>
              <a:rPr lang="en-US" sz="1400" dirty="0">
                <a:solidFill>
                  <a:srgbClr val="101426"/>
                </a:solidFill>
              </a:rPr>
              <a:t>Secrets Manager para secretos</a:t>
            </a:r>
            <a:endParaRPr lang="en-US" sz="1400" dirty="0"/>
          </a:p>
          <a:p>
            <a:r>
              <a:rPr lang="en-US" sz="1400" dirty="0">
                <a:solidFill>
                  <a:srgbClr val="101426"/>
                </a:solidFill>
              </a:rPr>
              <a:t>Budgets para alertas de gasto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0" y="1325880"/>
            <a:ext cx="44805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20840" y="169164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1426"/>
                </a:solidFill>
              </a:rPr>
              <a:t>Resiliencia planteada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20840" y="21488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E7480"/>
                </a:solidFill>
              </a:rPr>
              <a:t>Dos zonas de disponibilidad, autoescalado, colas con DLQ, recuperación de DynamoDB, backups programados y despliegues ECS con tareas saludables.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20840" y="34747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1426"/>
                </a:solidFill>
              </a:rPr>
              <a:t>Control de costos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720840" y="39319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E7480"/>
                </a:solidFill>
              </a:rPr>
              <a:t>Se documentó un modo controlado que desactiva recursos caros como EKS, OpenSearch, cache administrado, Jenkins y observabilidad administrada.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090A4"/>
                </a:solidFill>
              </a:rPr>
              <a:t>DermaNube - Infraestructura como Código y CI/CD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11475720" y="64556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090A4"/>
                </a:solidFill>
              </a:rPr>
              <a:t>18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11480" y="6437376"/>
            <a:ext cx="11384280" cy="0"/>
          </a:xfrm>
          <a:prstGeom prst="line">
            <a:avLst/>
          </a:prstGeom>
          <a:noFill/>
          <a:ln w="6350">
            <a:solidFill>
              <a:srgbClr val="D9DEE8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D5E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Estado final del proyecto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12064" y="960120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480"/>
                </a:solidFill>
              </a:rPr>
              <a:t>Qué se puede demostrar hoy y qué quedó preparado para una cuenta AWS habilitada.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5166360" cy="4297680"/>
          </a:xfrm>
          <a:prstGeom prst="roundRect">
            <a:avLst>
              <a:gd name="adj" fmla="val 1702"/>
            </a:avLst>
          </a:prstGeom>
          <a:solidFill>
            <a:srgbClr val="F2FBF5"/>
          </a:solidFill>
          <a:ln w="12700">
            <a:solidFill>
              <a:srgbClr val="B9DD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00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5A36C"/>
                </a:solidFill>
              </a:rPr>
              <a:t>Validado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452628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101426"/>
                </a:solidFill>
              </a:rPr>
              <a:t>Web local en localhost:8085</a:t>
            </a:r>
            <a:endParaRPr lang="en-US" sz="1300" dirty="0"/>
          </a:p>
          <a:p>
            <a:r>
              <a:rPr lang="en-US" sz="1300" dirty="0">
                <a:solidFill>
                  <a:srgbClr val="101426"/>
                </a:solidFill>
              </a:rPr>
              <a:t>Servicios Personas y Citas saludables</a:t>
            </a:r>
            <a:endParaRPr lang="en-US" sz="1300" dirty="0"/>
          </a:p>
          <a:p>
            <a:r>
              <a:rPr lang="en-US" sz="1300" dirty="0">
                <a:solidFill>
                  <a:srgbClr val="101426"/>
                </a:solidFill>
              </a:rPr>
              <a:t>Redis, Prometheus, Grafana, Loki y Alloy activos</a:t>
            </a:r>
            <a:endParaRPr lang="en-US" sz="1300" dirty="0"/>
          </a:p>
          <a:p>
            <a:r>
              <a:rPr lang="en-US" sz="1300" dirty="0">
                <a:solidFill>
                  <a:srgbClr val="101426"/>
                </a:solidFill>
              </a:rPr>
              <a:t>Jenkins con pipeline SUCCESS</a:t>
            </a:r>
            <a:endParaRPr lang="en-US" sz="1300" dirty="0"/>
          </a:p>
          <a:p>
            <a:r>
              <a:rPr lang="en-US" sz="1300" dirty="0">
                <a:solidFill>
                  <a:srgbClr val="101426"/>
                </a:solidFill>
              </a:rPr>
              <a:t>SonarQube con Quality Gate Passed</a:t>
            </a:r>
            <a:endParaRPr lang="en-US" sz="1300" dirty="0"/>
          </a:p>
          <a:p>
            <a:r>
              <a:rPr lang="en-US" sz="1300" dirty="0">
                <a:solidFill>
                  <a:srgbClr val="101426"/>
                </a:solidFill>
              </a:rPr>
              <a:t>5 pruebas automatizadas aprobadas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234440"/>
            <a:ext cx="5166360" cy="4297680"/>
          </a:xfrm>
          <a:prstGeom prst="roundRect">
            <a:avLst>
              <a:gd name="adj" fmla="val 1702"/>
            </a:avLst>
          </a:prstGeom>
          <a:solidFill>
            <a:srgbClr val="FFF9F0"/>
          </a:solidFill>
          <a:ln w="12700">
            <a:solidFill>
              <a:srgbClr val="E6CE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1600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A27C"/>
                </a:solidFill>
              </a:rPr>
              <a:t>Preparado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675120" y="2148840"/>
            <a:ext cx="452628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101426"/>
                </a:solidFill>
              </a:rPr>
              <a:t>Terraform para AWS completo por dominios</a:t>
            </a:r>
            <a:endParaRPr lang="en-US" sz="1300" dirty="0"/>
          </a:p>
          <a:p>
            <a:r>
              <a:rPr lang="en-US" sz="1300" dirty="0">
                <a:solidFill>
                  <a:srgbClr val="101426"/>
                </a:solidFill>
              </a:rPr>
              <a:t>Ansible para configuración</a:t>
            </a:r>
            <a:endParaRPr lang="en-US" sz="1300" dirty="0"/>
          </a:p>
          <a:p>
            <a:r>
              <a:rPr lang="en-US" sz="1300" dirty="0">
                <a:solidFill>
                  <a:srgbClr val="101426"/>
                </a:solidFill>
              </a:rPr>
              <a:t>Kubernetes para trabajador de documentos</a:t>
            </a:r>
            <a:endParaRPr lang="en-US" sz="1300" dirty="0"/>
          </a:p>
          <a:p>
            <a:r>
              <a:rPr lang="en-US" sz="1300" dirty="0">
                <a:solidFill>
                  <a:srgbClr val="101426"/>
                </a:solidFill>
              </a:rPr>
              <a:t>GitHub Actions para CI y publicación ECR</a:t>
            </a:r>
            <a:endParaRPr lang="en-US" sz="1300" dirty="0"/>
          </a:p>
          <a:p>
            <a:r>
              <a:rPr lang="en-US" sz="1300" dirty="0">
                <a:solidFill>
                  <a:srgbClr val="101426"/>
                </a:solidFill>
              </a:rPr>
              <a:t>Scripts de despliegue, humo y reversión</a:t>
            </a:r>
            <a:endParaRPr lang="en-US" sz="1300" dirty="0"/>
          </a:p>
          <a:p>
            <a:r>
              <a:rPr lang="en-US" sz="1300" dirty="0">
                <a:solidFill>
                  <a:srgbClr val="101426"/>
                </a:solidFill>
              </a:rPr>
              <a:t>Documentos de costos y excepciones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090A4"/>
                </a:solidFill>
              </a:rPr>
              <a:t>DermaNube - Infraestructura como Código y CI/CD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11475720" y="64556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090A4"/>
                </a:solidFill>
              </a:rPr>
              <a:t>19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11480" y="6437376"/>
            <a:ext cx="11384280" cy="0"/>
          </a:xfrm>
          <a:prstGeom prst="line">
            <a:avLst/>
          </a:prstGeom>
          <a:noFill/>
          <a:ln w="6350">
            <a:solidFill>
              <a:srgbClr val="D9DEE8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D5E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 sugerida para mi demostración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7899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35331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EA6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17320" y="135331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1426"/>
                </a:solidFill>
              </a:rPr>
              <a:t>Web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063240" y="135331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750F2"/>
                </a:solidFill>
              </a:rPr>
              <a:t>http://localhost:8085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172200" y="135331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E7480"/>
                </a:solidFill>
              </a:rPr>
              <a:t>Mostrar diseño y navegación.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1947672"/>
            <a:ext cx="107899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06654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EA6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17320" y="206654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1426"/>
                </a:solidFill>
              </a:rPr>
              <a:t>Jenkins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063240" y="206654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750F2"/>
                </a:solidFill>
              </a:rPr>
              <a:t>http://localhost:8088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172200" y="206654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E7480"/>
                </a:solidFill>
              </a:rPr>
              <a:t>Abrir ejecución #2 y Pipeline Overview.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2660904"/>
            <a:ext cx="107899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277977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EA6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17320" y="27797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1426"/>
                </a:solidFill>
              </a:rPr>
              <a:t>SonarQube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063240" y="277977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750F2"/>
                </a:solidFill>
              </a:rPr>
              <a:t>http://localhost:9000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72200" y="2779776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E7480"/>
                </a:solidFill>
              </a:rPr>
              <a:t>Mostrar Quality Gate Passed y métricas.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3374136"/>
            <a:ext cx="107899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34930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EA6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17320" y="349300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1426"/>
                </a:solidFill>
              </a:rPr>
              <a:t>Grafana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063240" y="349300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750F2"/>
                </a:solidFill>
              </a:rPr>
              <a:t>http://localhost:3000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72200" y="349300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E7480"/>
                </a:solidFill>
              </a:rPr>
              <a:t>Mostrar dashboard operativo.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1520" y="4087368"/>
            <a:ext cx="107899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42062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EA6"/>
                </a:solidFill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17320" y="42062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1426"/>
                </a:solidFill>
              </a:rPr>
              <a:t>Prometheus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063240" y="4206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750F2"/>
                </a:solidFill>
              </a:rPr>
              <a:t>http://localhost:9090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72200" y="420624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E7480"/>
                </a:solidFill>
              </a:rPr>
              <a:t>Ejecutar up y abrir Targets.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31520" y="4800600"/>
            <a:ext cx="107899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7620">
            <a:solidFill>
              <a:srgbClr val="D9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49194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EA6"/>
                </a:solidFill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417320" y="49194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1426"/>
                </a:solidFill>
              </a:rPr>
              <a:t>Repositorio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063240" y="49194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750F2"/>
                </a:solidFill>
              </a:rPr>
              <a:t>C:\DermaNube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72200" y="491947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E7480"/>
                </a:solidFill>
              </a:rPr>
              <a:t>Mostrar estructura y archivos IaC.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1148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090A4"/>
                </a:solidFill>
              </a:rPr>
              <a:t>DermaNube - Infraestructura como Código y CI/CD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11475720" y="64556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090A4"/>
                </a:solidFill>
              </a:rPr>
              <a:t>20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11480" y="6437376"/>
            <a:ext cx="11384280" cy="0"/>
          </a:xfrm>
          <a:prstGeom prst="line">
            <a:avLst/>
          </a:prstGeom>
          <a:noFill/>
          <a:ln w="6350">
            <a:solidFill>
              <a:srgbClr val="D9DEE8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0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26"/>
          </a:solidFill>
          <a:ln w="12700">
            <a:solidFill>
              <a:srgbClr val="101426"/>
            </a:solidFill>
            <a:prstDash val="solid"/>
          </a:ln>
        </p:spPr>
      </p:sp>
      <p:pic>
        <p:nvPicPr>
          <p:cNvPr id="3" name="Image 0" descr="/mnt/data/HeroDerech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22402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GRACIAS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822960" y="3246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CE6F3"/>
                </a:solidFill>
              </a:rPr>
              <a:t>DermaNube: aplicación, IaC, CI/CD, calidad y observabilidad con evidencia local validada.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5257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6A5FF"/>
                </a:solidFill>
              </a:rPr>
              <a:t>Preguntas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1889</Words>
  <Application>Microsoft Office PowerPoint</Application>
  <PresentationFormat>Panorámica</PresentationFormat>
  <Paragraphs>360</Paragraphs>
  <Slides>22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5" baseType="lpstr"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DermaNube</dc:title>
  <dc:subject>DermaNube - presentación de infraestructura y CI/CD</dc:subject>
  <dc:creator>OpenAI</dc:creator>
  <cp:lastModifiedBy>Kristel Rivera Chamorro</cp:lastModifiedBy>
  <cp:revision>3</cp:revision>
  <dcterms:created xsi:type="dcterms:W3CDTF">2026-07-17T01:15:15Z</dcterms:created>
  <dcterms:modified xsi:type="dcterms:W3CDTF">2026-07-29T16:27:21Z</dcterms:modified>
</cp:coreProperties>
</file>